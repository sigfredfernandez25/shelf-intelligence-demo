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8B43D-B229-64C9-F46D-659979BB8B82}" v="32" dt="2026-06-24T04:41:00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88C23-C13C-4E12-82BA-80C5D606463F}" type="datetimeFigureOut"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40254-7146-4FAF-95EA-1B618D7EE01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24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final concept: a secure mobile and desktop AI solution for retail shelf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problem around revenue leakage, manual operations, and static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the agent uses existing retail data to make predictions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mobile vs desktop roles and emphasize the API security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multi-agent architecture and why each agent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actual mobile UI screens for store execution: dashboard, SKU detail, substitution, and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desktop manager dashboard for monitoring KPIs, forecasts, and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SKU analysis desktop screen for deeper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task management screen for operational execution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storyboard for the live demo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business impacts in executive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monetary model as illustrative and easy to replace with real client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secure integration and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deployability, measurable value, and enterprise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685800"/>
            <a:ext cx="1737360" cy="1737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61320" y="1783080"/>
            <a:ext cx="1051560" cy="10515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06840" y="22860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5120640"/>
            <a:ext cx="822960" cy="8229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Shelf Intelligence &amp; Predictive</a:t>
            </a:r>
            <a:br/>
            <a:r>
              <a:t>Replenishment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</a:defRPr>
            </a:pPr>
            <a:r>
              <a:t>Secure multi-platform AI for predictive retail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77639"/>
            <a:ext cx="205740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4037076"/>
            <a:ext cx="1984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Mobile + Desktop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977639"/>
            <a:ext cx="205740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45536" y="4037076"/>
            <a:ext cx="1984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API-secured mobile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79" y="3977639"/>
            <a:ext cx="205740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77255" y="4037076"/>
            <a:ext cx="1984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POS + Inventory + Planogram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977639"/>
            <a:ext cx="2057400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08975" y="4037076"/>
            <a:ext cx="1984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No camera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t>The Retail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Promo and high-demand items run out before teams can react, creating avoidable revenue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251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63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Out-of-stock revenue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108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• Promo items sell faster than expected</a:t>
            </a:r>
            <a:br/>
            <a:r>
              <a:t>• Empty shelf means missed basket conversion</a:t>
            </a:r>
            <a:br/>
            <a:r>
              <a:t>• Lost sales are often visible only after the promo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4251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63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Reactive store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47672"/>
            <a:ext cx="3108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• Staff depend on manual checks</a:t>
            </a:r>
            <a:br/>
            <a:r>
              <a:t>• Replenishment happens after the issue</a:t>
            </a:r>
            <a:br/>
            <a:r>
              <a:t>• Priority items compete with routine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563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Static shelf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47672"/>
            <a:ext cx="3108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• Planograms remain fixed while demand changes</a:t>
            </a:r>
            <a:br/>
            <a:r>
              <a:t>• Slow-moving SKUs occupy valuable space</a:t>
            </a:r>
            <a:br/>
            <a:r>
              <a:t>• POS insights are not translated into action fast enough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A secure agentic workflow that predicts risk and recommends the best next action using existing retail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148840" cy="5943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20025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POS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14884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30083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Inventory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14884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01421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Planogram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214884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50200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Promotion Calendar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331720"/>
            <a:ext cx="3977639" cy="2148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27889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Shelf Intelligence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918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CBD5E1"/>
                </a:solidFill>
              </a:defRPr>
            </a:pPr>
            <a:r>
              <a:t>Forecast • Recommend • Orchestrate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417320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572768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t>Mobile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423160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2578608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B6D4"/>
                </a:solidFill>
              </a:defRPr>
            </a:pPr>
            <a:r>
              <a:t>Desktop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3429000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3584448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Substitution Picks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4434840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4590288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2C55E"/>
                </a:solidFill>
              </a:defRPr>
            </a:pPr>
            <a:r>
              <a:t>Replenishment Tasks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5440680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5596128"/>
            <a:ext cx="1965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7C3AED"/>
                </a:solidFill>
              </a:defRPr>
            </a:pPr>
            <a:r>
              <a:t>Shelf Facings Insight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80360" y="2130552"/>
            <a:ext cx="1097279" cy="1252728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880360" y="3136392"/>
            <a:ext cx="1097279" cy="246888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880360" y="3383280"/>
            <a:ext cx="1097279" cy="758952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880360" y="3383280"/>
            <a:ext cx="1097279" cy="1764792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955279" y="1700784"/>
            <a:ext cx="1325881" cy="1682496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955279" y="2706624"/>
            <a:ext cx="1325881" cy="676656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55279" y="3383280"/>
            <a:ext cx="1325881" cy="329183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55279" y="3383280"/>
            <a:ext cx="1325881" cy="1335024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55279" y="3383280"/>
            <a:ext cx="1325881" cy="2340864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t>Multi-Platform + Secure-by-Design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Mobile is optimized for execution; desktop/laptop is optimized for monitoring, analysis, and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Mobile App — Store Associate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• View at-risk SKUs</a:t>
            </a:r>
            <a:br/>
            <a:r>
              <a:t>• Accept / reassign restock tasks</a:t>
            </a:r>
            <a:br/>
            <a:r>
              <a:t>• Apply substitute recommendations</a:t>
            </a:r>
            <a:br/>
            <a:r>
              <a:t>• All requests run through secured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2057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7218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Desktop/Laptop — Manager &amp;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56231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• Monitor OOS, revenue recovery, and task queues</a:t>
            </a:r>
            <a:br/>
            <a:r>
              <a:t>• Analyze SKU forecast and substitution impact</a:t>
            </a:r>
            <a:br/>
            <a:r>
              <a:t>• Compare store performance</a:t>
            </a:r>
            <a:br/>
            <a:r>
              <a:t>• Review audit trail and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73152" cy="2057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47218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Security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56231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• API gateway between mobile and systems</a:t>
            </a:r>
            <a:br/>
            <a:r>
              <a:t>• OAuth/token authentication</a:t>
            </a:r>
            <a:br/>
            <a:r>
              <a:t>• Role-based access control</a:t>
            </a:r>
            <a:br/>
            <a:r>
              <a:t>• Audit logging; no direct mobile DB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06240"/>
            <a:ext cx="18288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407408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Mobile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206240"/>
            <a:ext cx="192024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44074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Secure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4206240"/>
            <a:ext cx="205740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25312" y="4407408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4206240"/>
            <a:ext cx="21488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4407408"/>
            <a:ext cx="18745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Retail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4526280"/>
            <a:ext cx="5486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212080" y="4526280"/>
            <a:ext cx="594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4526280"/>
            <a:ext cx="594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1663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64748B"/>
                </a:solidFill>
              </a:defRPr>
            </a:pPr>
            <a:r>
              <a:t>Security message for pitch: the mobile app never connects directly to POS, inventory, or planogram databases.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t>Agent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A modular setup keeps the solution explainable, scalable, and easy to 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63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Demand Forecast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Predicts SKU depletion using POS velocity, promo uplift, and historical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563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Replenishment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94767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Checks stock availability and recommends when and how much to replenish.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1563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Recommendation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94767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Suggests substitute SKUs using similarity, margin, promo fit, and basket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12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Planogram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09651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Compares allocated facings against sales performance and recommends shelf-space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356616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1728" y="3712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Task Orchestrator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09651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Prioritizes tasks and routes actions to store associates via mobile or desktop task queues.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lang="en-US"/>
              <a:t>Concept Mobile</a:t>
            </a:r>
            <a:r>
              <a:t> UI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Store associates get fast, action-oriented screens for replenishment and substitution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2331720" cy="5074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2688" y="1325880"/>
            <a:ext cx="2112263" cy="47091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7552" y="1417320"/>
            <a:ext cx="2002536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54480"/>
            <a:ext cx="16916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Store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039112"/>
            <a:ext cx="1874519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167128"/>
            <a:ext cx="1655063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</a:defRPr>
            </a:pPr>
            <a:r>
              <a:t>Store #102 •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788920"/>
            <a:ext cx="1874519" cy="749808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2907791"/>
            <a:ext cx="1655063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At-risk SKUs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118104"/>
            <a:ext cx="16550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685032"/>
            <a:ext cx="1874519" cy="6858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803904"/>
            <a:ext cx="16550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</a:defRPr>
            </a:pPr>
            <a:r>
              <a:t>⚠ Chips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014216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EF4444"/>
                </a:solidFill>
              </a:defRPr>
            </a:pPr>
            <a:r>
              <a:t>Runout ~2h • Promo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507992"/>
            <a:ext cx="1874519" cy="566928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8" y="4654296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1">
                <a:solidFill>
                  <a:srgbClr val="0F172A"/>
                </a:solidFill>
              </a:defRPr>
            </a:pPr>
            <a:r>
              <a:t>⚠ Beverage C • ~3h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5212080"/>
            <a:ext cx="1874519" cy="566928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61288" y="5358383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1">
                <a:solidFill>
                  <a:srgbClr val="16A34A"/>
                </a:solidFill>
              </a:defRPr>
            </a:pPr>
            <a:r>
              <a:t>✓ Tissue D • Stable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1288" y="5925312"/>
            <a:ext cx="1655063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97864" y="5984748"/>
            <a:ext cx="1581911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View Tasks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1143000"/>
            <a:ext cx="2331720" cy="5074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675887" y="1325880"/>
            <a:ext cx="2112263" cy="47091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730752" y="1417320"/>
            <a:ext cx="2002536" cy="5303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0" y="1554480"/>
            <a:ext cx="16916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SKU Risk Detail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2039112"/>
            <a:ext cx="1874519" cy="50292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04488" y="2176272"/>
            <a:ext cx="1655063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</a:defRPr>
            </a:pPr>
            <a:r>
              <a:t>Chips A • Promo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4760" y="2697480"/>
            <a:ext cx="1874519" cy="100584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04488" y="2834640"/>
            <a:ext cx="16550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1">
                <a:solidFill>
                  <a:srgbClr val="0F172A"/>
                </a:solidFill>
              </a:defRPr>
            </a:pPr>
            <a:r>
              <a:t>Sales velocity +65%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4488" y="3072384"/>
            <a:ext cx="16550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0F172A"/>
                </a:solidFill>
              </a:defRPr>
            </a:pPr>
            <a:r>
              <a:t>Stock: 34 units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4488" y="3310128"/>
            <a:ext cx="16550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1">
                <a:solidFill>
                  <a:srgbClr val="EF4444"/>
                </a:solidFill>
              </a:defRPr>
            </a:pPr>
            <a:r>
              <a:t>Runout forecast: ~2h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867912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23360" y="4032504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</a:defRPr>
            </a:pPr>
            <a:r>
              <a:t>Demand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06240" y="4370832"/>
            <a:ext cx="123444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06240" y="4477512"/>
            <a:ext cx="123444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0" y="4584192"/>
            <a:ext cx="123444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06240" y="4690872"/>
            <a:ext cx="123444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06240" y="4556455"/>
            <a:ext cx="172821" cy="38405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79061" y="4543653"/>
            <a:ext cx="172822" cy="12802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551883" y="4505248"/>
            <a:ext cx="172821" cy="38405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724704" y="4486046"/>
            <a:ext cx="172822" cy="19202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897526" y="4450842"/>
            <a:ext cx="172822" cy="35204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070348" y="4428439"/>
            <a:ext cx="172821" cy="22403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243169" y="4412437"/>
            <a:ext cx="197511" cy="16002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174236" y="4562856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19879" y="4511649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865522" y="4454042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211165" y="4396435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 flipV="1">
            <a:off x="4206240" y="4546854"/>
            <a:ext cx="172821" cy="9601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79061" y="4537252"/>
            <a:ext cx="172822" cy="9602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551883" y="4524451"/>
            <a:ext cx="172821" cy="12801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724704" y="4492447"/>
            <a:ext cx="172822" cy="32004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897526" y="4466844"/>
            <a:ext cx="172822" cy="25603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070348" y="4434840"/>
            <a:ext cx="172821" cy="32004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43169" y="4396435"/>
            <a:ext cx="197511" cy="38405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174236" y="4524451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519879" y="4505248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865522" y="4460443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211165" y="440283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20046" y="4076047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563EB"/>
                </a:solidFill>
              </a:defRPr>
            </a:pPr>
            <a:r>
              <a:t>Actual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95240" y="406879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59E0B"/>
                </a:solidFill>
              </a:defRPr>
            </a:pPr>
            <a:r>
              <a:t>Forecast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794760" y="5257800"/>
            <a:ext cx="1874519" cy="73152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904488" y="5385816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t>Recommended action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04488" y="5605272"/>
            <a:ext cx="16550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1">
                <a:solidFill>
                  <a:srgbClr val="16A34A"/>
                </a:solidFill>
              </a:defRPr>
            </a:pPr>
            <a:r>
              <a:t>Restock 20 units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2" y="6108192"/>
            <a:ext cx="77724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904488" y="6167628"/>
            <a:ext cx="70408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Accept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90872" y="6108192"/>
            <a:ext cx="80467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27448" y="6167628"/>
            <a:ext cx="731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Reassign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532120" y="6108192"/>
            <a:ext cx="658368" cy="25603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568696" y="6167628"/>
            <a:ext cx="585216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Snooze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1143000"/>
            <a:ext cx="2331720" cy="5074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419088" y="1325880"/>
            <a:ext cx="2112263" cy="47091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6473952" y="1417320"/>
            <a:ext cx="2002536" cy="5303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29400" y="1554480"/>
            <a:ext cx="16916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Substitution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37960" y="2039112"/>
            <a:ext cx="1874519" cy="566928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647688" y="2194560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1">
                <a:solidFill>
                  <a:srgbClr val="EF4444"/>
                </a:solidFill>
              </a:defRPr>
            </a:pPr>
            <a:r>
              <a:t>Backroom stock unavailable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37960" y="2752344"/>
            <a:ext cx="1874519" cy="804672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47688" y="2907791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t>Suggested replacement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47688" y="3118104"/>
            <a:ext cx="16550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Chips B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37960" y="3730752"/>
            <a:ext cx="1874519" cy="1207008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647688" y="3886200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0F172A"/>
                </a:solidFill>
              </a:defRPr>
            </a:pPr>
            <a:r>
              <a:t>Substitution rate: 78%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4142231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16A34A"/>
                </a:solidFill>
              </a:defRPr>
            </a:pPr>
            <a:r>
              <a:t>Margin impact: +10%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98264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0">
                <a:solidFill>
                  <a:srgbClr val="0F172A"/>
                </a:solidFill>
              </a:defRPr>
            </a:pPr>
            <a:r>
              <a:t>Category fit: High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647688" y="5193792"/>
            <a:ext cx="1655063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684264" y="5253228"/>
            <a:ext cx="1581911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Apply Replacement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537960" y="5696712"/>
            <a:ext cx="1874519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647688" y="5852160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</a:defRPr>
            </a:pPr>
            <a:r>
              <a:t>Alternative: Chips C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052560" y="1143000"/>
            <a:ext cx="2331720" cy="5074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9162288" y="1325880"/>
            <a:ext cx="2112263" cy="47091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9217152" y="1417320"/>
            <a:ext cx="2002536" cy="5303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372600" y="1554480"/>
            <a:ext cx="16916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281160" y="2039112"/>
            <a:ext cx="1874519" cy="96012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390888" y="2185416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t>Today's Protected Revenue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90888" y="2450592"/>
            <a:ext cx="16550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</a:defRPr>
            </a:pPr>
            <a:r>
              <a:t>$140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90888" y="2752344"/>
            <a:ext cx="1655063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per store estimate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281160" y="3182112"/>
            <a:ext cx="1874519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90888" y="3337560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0F172A"/>
                </a:solidFill>
              </a:defRPr>
            </a:pPr>
            <a:r>
              <a:t>Tasks completed: 18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281160" y="4023360"/>
            <a:ext cx="1874519" cy="68580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390888" y="4178808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1">
                <a:solidFill>
                  <a:srgbClr val="7C3AED"/>
                </a:solidFill>
              </a:defRPr>
            </a:pPr>
            <a:r>
              <a:t>OOS risk reduced: 35%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281160" y="4873752"/>
            <a:ext cx="1874519" cy="804672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390888" y="5010912"/>
            <a:ext cx="16550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</a:defRPr>
            </a:pPr>
            <a:r>
              <a:t>Shelf insight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90888" y="5221224"/>
            <a:ext cx="16550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60" b="1">
                <a:solidFill>
                  <a:srgbClr val="0F172A"/>
                </a:solidFill>
              </a:defRPr>
            </a:pPr>
            <a:r>
              <a:t>Increase Chips B facings +20%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lang="en-US"/>
              <a:t>Concept Desktop</a:t>
            </a:r>
            <a:r>
              <a:t> UI Design — Manager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Desktop/laptop experience for monitoring stockout risks, revenue recovery, and operational workload.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110185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21615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121615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25296" y="121615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1197864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Shelf Intelligence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188720"/>
            <a:ext cx="2194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19" b="0">
                <a:solidFill>
                  <a:srgbClr val="CBD5E1"/>
                </a:solidFill>
              </a:defRPr>
            </a:pPr>
            <a:r>
              <a:t>Store #102 | Today |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1508760" cy="4343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1965960"/>
            <a:ext cx="123444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057400"/>
            <a:ext cx="1051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532888"/>
            <a:ext cx="123444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624328"/>
            <a:ext cx="1051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FFFFFF"/>
                </a:solidFill>
              </a:defRPr>
            </a:pPr>
            <a:r>
              <a:t>SKU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99815"/>
            <a:ext cx="123444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191256"/>
            <a:ext cx="1051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FFFFFF"/>
                </a:solidFill>
              </a:defRPr>
            </a:pPr>
            <a:r>
              <a:t>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66744"/>
            <a:ext cx="123444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758183"/>
            <a:ext cx="1051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FFFFFF"/>
                </a:solidFill>
              </a:defRPr>
            </a:pPr>
            <a:r>
              <a:t>Stores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33672"/>
            <a:ext cx="123444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325112"/>
            <a:ext cx="1051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70" b="0">
                <a:solidFill>
                  <a:srgbClr val="FFFFFF"/>
                </a:solidFill>
              </a:defRPr>
            </a:pPr>
            <a:r>
              <a:t>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178308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79192" y="1947672"/>
            <a:ext cx="329184" cy="3291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08960" y="1947672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4748B"/>
                </a:solidFill>
              </a:defRPr>
            </a:pPr>
            <a:r>
              <a:t>OOS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9192" y="2313432"/>
            <a:ext cx="16459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5.2%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2679191"/>
            <a:ext cx="16459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</a:defRPr>
            </a:pPr>
            <a:r>
              <a:t>↓ 35% vs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78308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828031" y="1947672"/>
            <a:ext cx="329184" cy="3291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57800" y="1947672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4748B"/>
                </a:solidFill>
              </a:defRPr>
            </a:pPr>
            <a:r>
              <a:t>Revenue Protected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1" y="2313432"/>
            <a:ext cx="16459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$1,240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679191"/>
            <a:ext cx="16459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</a:defRPr>
            </a:pPr>
            <a:r>
              <a:t>↑ today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80" y="178308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976872" y="1947672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6640" y="1947672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4748B"/>
                </a:solidFill>
              </a:defRPr>
            </a:pPr>
            <a:r>
              <a:t>Active 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2313432"/>
            <a:ext cx="16459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679191"/>
            <a:ext cx="16459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t>12 high priority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178308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125712" y="1947672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55480" y="1947672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4748B"/>
                </a:solidFill>
              </a:defRPr>
            </a:pPr>
            <a:r>
              <a:t>Margin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2313432"/>
            <a:ext cx="16459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+3.8%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679191"/>
            <a:ext cx="16459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from substitutions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306324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0" y="3227832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</a:defRPr>
            </a:pPr>
            <a:r>
              <a:t>Demand &amp; Stockout Forecast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926080" y="3566160"/>
            <a:ext cx="461772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926080" y="3870960"/>
            <a:ext cx="461772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26080" y="4175760"/>
            <a:ext cx="461772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6080" y="4480559"/>
            <a:ext cx="461772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26080" y="4096511"/>
            <a:ext cx="646480" cy="109729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572560" y="4059935"/>
            <a:ext cx="646481" cy="36576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9041" y="3950208"/>
            <a:ext cx="646481" cy="109727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65522" y="3895344"/>
            <a:ext cx="646481" cy="54864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512003" y="3794760"/>
            <a:ext cx="646480" cy="100584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158483" y="3730752"/>
            <a:ext cx="646481" cy="64008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804964" y="3685032"/>
            <a:ext cx="738836" cy="4572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2894076" y="4174235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187037" y="4027931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479999" y="3863339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772960" y="3698748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 flipV="1">
            <a:off x="2926080" y="4069080"/>
            <a:ext cx="646480" cy="27431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572560" y="4041648"/>
            <a:ext cx="646481" cy="27432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219041" y="4005072"/>
            <a:ext cx="646481" cy="36576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865522" y="3913632"/>
            <a:ext cx="646481" cy="9144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12003" y="3840480"/>
            <a:ext cx="646480" cy="73152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58483" y="3749040"/>
            <a:ext cx="646481" cy="9144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804964" y="3639312"/>
            <a:ext cx="738836" cy="109728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2894076" y="4064507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187037" y="4009644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479999" y="3881628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772960" y="371703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69280" y="32278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563EB"/>
                </a:solidFill>
              </a:defRPr>
            </a:pPr>
            <a:r>
              <a:t>Actual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32278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59E0B"/>
                </a:solidFill>
              </a:defRPr>
            </a:pPr>
            <a:r>
              <a:t>Forecast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01000" y="306324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183879" y="3200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</a:defRPr>
            </a:pPr>
            <a:r>
              <a:t>OOS Rate by Store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12480" y="3873499"/>
            <a:ext cx="241401" cy="5613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66759" y="4471416"/>
            <a:ext cx="3328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</a:defRPr>
            </a:pPr>
            <a:r>
              <a:t>102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851392" y="3776344"/>
            <a:ext cx="241401" cy="65849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805672" y="4471416"/>
            <a:ext cx="3328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</a:defRPr>
            </a:pPr>
            <a:r>
              <a:t>118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90304" y="4024629"/>
            <a:ext cx="241401" cy="41021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244584" y="4471416"/>
            <a:ext cx="3328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</a:defRPr>
            </a:pPr>
            <a:r>
              <a:t>206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729216" y="3657599"/>
            <a:ext cx="241401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683496" y="4471416"/>
            <a:ext cx="3328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</a:defRPr>
            </a:pPr>
            <a:r>
              <a:t>312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168128" y="3959859"/>
            <a:ext cx="241401" cy="4749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122407" y="4471416"/>
            <a:ext cx="3328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</a:defRPr>
            </a:pPr>
            <a:r>
              <a:t>407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14600" y="5120640"/>
            <a:ext cx="3749039" cy="82296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5266944"/>
            <a:ext cx="3383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Top At-Risk SKUs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97480" y="5504688"/>
            <a:ext cx="3383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</a:defRPr>
            </a:pPr>
            <a:r>
              <a:t>Chips A ~2h • Beverage C ~3h • Milk D ~5h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46520" y="5120640"/>
            <a:ext cx="44805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629400" y="5266944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Alerts Feed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29400" y="5504688"/>
            <a:ext cx="4114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80" b="0">
                <a:solidFill>
                  <a:srgbClr val="64748B"/>
                </a:solidFill>
              </a:defRPr>
            </a:pPr>
            <a:r>
              <a:t>Replenish Chips A • Apply Chips B substitute • Increase facings +20%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lang="en-US"/>
              <a:t>Concept Desktop</a:t>
            </a:r>
            <a:r>
              <a:t> UI Design — SKU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Deep-dive view for understanding demand, inventory position, recommended action, and substitution impact.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1083564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10835640" cy="5669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80744"/>
            <a:ext cx="4114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</a:defRPr>
            </a:pPr>
            <a:r>
              <a:t>SKU Analysis: Chips A | Snacks | Promo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344168"/>
            <a:ext cx="1005840" cy="2560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29215" y="1403604"/>
            <a:ext cx="93268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High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6583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7627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</a:defRPr>
            </a:pPr>
            <a:r>
              <a:t>Historical Sales vs Forecasted Demand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2514600"/>
            <a:ext cx="594360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95600"/>
            <a:ext cx="594360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3276600"/>
            <a:ext cx="594360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71600" y="3657600"/>
            <a:ext cx="5943600" cy="0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71600" y="3177540"/>
            <a:ext cx="832104" cy="13716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203704" y="3131820"/>
            <a:ext cx="832104" cy="4572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35808" y="2994660"/>
            <a:ext cx="832104" cy="13716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867912" y="2926080"/>
            <a:ext cx="832104" cy="6858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700016" y="2800350"/>
            <a:ext cx="832104" cy="12573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532120" y="2720340"/>
            <a:ext cx="832104" cy="8001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364224" y="2663190"/>
            <a:ext cx="950976" cy="5715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339596" y="3282696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003804" y="3099815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68012" y="2894076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32220" y="2688336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 flipV="1">
            <a:off x="1371600" y="3143250"/>
            <a:ext cx="832104" cy="3429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203704" y="3108960"/>
            <a:ext cx="832104" cy="3429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035808" y="3063240"/>
            <a:ext cx="832104" cy="4572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67912" y="2948940"/>
            <a:ext cx="832104" cy="11430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700016" y="2857500"/>
            <a:ext cx="832104" cy="9144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532120" y="2743200"/>
            <a:ext cx="832104" cy="11430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364224" y="2606040"/>
            <a:ext cx="950976" cy="13716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339596" y="314553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003804" y="307695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68012" y="291693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32220" y="271119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40680" y="21762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563EB"/>
                </a:solidFill>
              </a:defRPr>
            </a:pPr>
            <a:r>
              <a:t>Actual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1762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59E0B"/>
                </a:solidFill>
              </a:defRPr>
            </a:pPr>
            <a:r>
              <a:t>Forecast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2011680"/>
            <a:ext cx="3337560" cy="205740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20" y="2212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Recommended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2578608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Restock 20 units within 30 mins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2971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0" b="0">
                <a:solidFill>
                  <a:srgbClr val="64748B"/>
                </a:solidFill>
              </a:defRPr>
            </a:pPr>
            <a:r>
              <a:t>If unavailable, apply substitute recommendation to protect conversion and margin.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3611880"/>
            <a:ext cx="123444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83296" y="3671316"/>
            <a:ext cx="116128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Approve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72600" y="3611880"/>
            <a:ext cx="105156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09176" y="3671316"/>
            <a:ext cx="978407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Escalate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0120" y="4343400"/>
            <a:ext cx="26517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60120" y="4343400"/>
            <a:ext cx="73152" cy="12984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61288" y="448970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Stock Details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1288" y="4873752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Current stock: 34 units</a:t>
            </a:r>
            <a:br/>
            <a:r>
              <a:t>Backroom stock: 0</a:t>
            </a:r>
            <a:br/>
            <a:r>
              <a:t>Runout forecast: ~2 hours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86200" y="4343400"/>
            <a:ext cx="2880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886200" y="4343400"/>
            <a:ext cx="73152" cy="12984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087368" y="44897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Substitution Recommendation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87368" y="487375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Replace with Chips B</a:t>
            </a:r>
            <a:br/>
            <a:r>
              <a:t>Substitution rate: 78%</a:t>
            </a:r>
            <a:br/>
            <a:r>
              <a:t>Margin impact: +10%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40880" y="4343400"/>
            <a:ext cx="4114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040880" y="4343400"/>
            <a:ext cx="73152" cy="12984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42048" y="448970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Planogram Insight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42048" y="4873752"/>
            <a:ext cx="3794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Increase Chips B facings by +20% temporarily while promo demand remains elevated.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rPr lang="en-US"/>
              <a:t>Concept</a:t>
            </a:r>
            <a:r>
              <a:t> Desktop UI Design — Task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Kanban-style task board for tracking replenishment, substitution, and escalation work across the store.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8356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417320"/>
            <a:ext cx="10287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572768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1">
                <a:solidFill>
                  <a:srgbClr val="64748B"/>
                </a:solidFill>
              </a:defRPr>
            </a:pPr>
            <a:r>
              <a:t>Priority: High  |  Store: 102  |  Category: 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536192"/>
            <a:ext cx="100584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12096" y="1595628"/>
            <a:ext cx="93268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148840"/>
            <a:ext cx="2331720" cy="361188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33172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To 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4712" y="2697480"/>
            <a:ext cx="199339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2852928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0F172A"/>
                </a:solidFill>
              </a:defRPr>
            </a:pPr>
            <a:r>
              <a:t>Restock Chips A</a:t>
            </a:r>
          </a:p>
        </p:txBody>
      </p:sp>
      <p:sp>
        <p:nvSpPr>
          <p:cNvPr id="13" name="Oval 12"/>
          <p:cNvSpPr/>
          <p:nvPr/>
        </p:nvSpPr>
        <p:spPr>
          <a:xfrm>
            <a:off x="2898648" y="28620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24712" y="3410712"/>
            <a:ext cx="199339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3566160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0F172A"/>
                </a:solidFill>
              </a:defRPr>
            </a:pPr>
            <a:r>
              <a:t>Check Beverage C</a:t>
            </a:r>
          </a:p>
        </p:txBody>
      </p:sp>
      <p:sp>
        <p:nvSpPr>
          <p:cNvPr id="16" name="Oval 15"/>
          <p:cNvSpPr/>
          <p:nvPr/>
        </p:nvSpPr>
        <p:spPr>
          <a:xfrm>
            <a:off x="2898648" y="357530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24712" y="4123944"/>
            <a:ext cx="199339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52728" y="4279392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0F172A"/>
                </a:solidFill>
              </a:defRPr>
            </a:pPr>
            <a:r>
              <a:t>Move Chips B</a:t>
            </a:r>
          </a:p>
        </p:txBody>
      </p:sp>
      <p:sp>
        <p:nvSpPr>
          <p:cNvPr id="19" name="Oval 18"/>
          <p:cNvSpPr/>
          <p:nvPr/>
        </p:nvSpPr>
        <p:spPr>
          <a:xfrm>
            <a:off x="2898648" y="42885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02152" y="2148840"/>
            <a:ext cx="2331720" cy="36118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66744" y="233172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In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66744" y="2697480"/>
            <a:ext cx="199339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60" y="2852928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0F172A"/>
                </a:solidFill>
              </a:defRPr>
            </a:pPr>
            <a:r>
              <a:t>Replace Chips A</a:t>
            </a:r>
          </a:p>
        </p:txBody>
      </p:sp>
      <p:sp>
        <p:nvSpPr>
          <p:cNvPr id="24" name="Oval 23"/>
          <p:cNvSpPr/>
          <p:nvPr/>
        </p:nvSpPr>
        <p:spPr>
          <a:xfrm>
            <a:off x="5440680" y="286207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66744" y="3410712"/>
            <a:ext cx="199339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94760" y="3566160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0F172A"/>
                </a:solidFill>
              </a:defRPr>
            </a:pPr>
            <a:r>
              <a:t>Update facings</a:t>
            </a:r>
          </a:p>
        </p:txBody>
      </p:sp>
      <p:sp>
        <p:nvSpPr>
          <p:cNvPr id="27" name="Oval 26"/>
          <p:cNvSpPr/>
          <p:nvPr/>
        </p:nvSpPr>
        <p:spPr>
          <a:xfrm>
            <a:off x="5440680" y="357530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044183" y="2148840"/>
            <a:ext cx="2331720" cy="361188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08775" y="233172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</a:defRPr>
            </a:pPr>
            <a:r>
              <a:t>Completed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5" y="2697480"/>
            <a:ext cx="199339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36792" y="2852928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0F172A"/>
                </a:solidFill>
              </a:defRPr>
            </a:pPr>
            <a:r>
              <a:t>Restock Milk D</a:t>
            </a:r>
          </a:p>
        </p:txBody>
      </p:sp>
      <p:sp>
        <p:nvSpPr>
          <p:cNvPr id="32" name="Oval 31"/>
          <p:cNvSpPr/>
          <p:nvPr/>
        </p:nvSpPr>
        <p:spPr>
          <a:xfrm>
            <a:off x="7982712" y="2862072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08775" y="3410712"/>
            <a:ext cx="199339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3566160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0F172A"/>
                </a:solidFill>
              </a:defRPr>
            </a:pPr>
            <a:r>
              <a:t>Review Soda B</a:t>
            </a:r>
          </a:p>
        </p:txBody>
      </p:sp>
      <p:sp>
        <p:nvSpPr>
          <p:cNvPr id="35" name="Oval 34"/>
          <p:cNvSpPr/>
          <p:nvPr/>
        </p:nvSpPr>
        <p:spPr>
          <a:xfrm>
            <a:off x="7982712" y="3575304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586216" y="2148840"/>
            <a:ext cx="2331720" cy="361188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50808" y="233172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Escalated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50808" y="2697480"/>
            <a:ext cx="1993392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78824" y="2852928"/>
            <a:ext cx="1737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90" b="1">
                <a:solidFill>
                  <a:srgbClr val="0F172A"/>
                </a:solidFill>
              </a:defRPr>
            </a:pPr>
            <a:r>
              <a:t>Supplier delay: Chips A</a:t>
            </a:r>
          </a:p>
        </p:txBody>
      </p:sp>
      <p:sp>
        <p:nvSpPr>
          <p:cNvPr id="40" name="Oval 39"/>
          <p:cNvSpPr/>
          <p:nvPr/>
        </p:nvSpPr>
        <p:spPr>
          <a:xfrm>
            <a:off x="10524744" y="2862072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t>Demo Script Storyboard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Use this sequence for a concise pitch demo showing prediction, action, substitution, and value.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30759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426464"/>
            <a:ext cx="164592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Open Manager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64748B"/>
                </a:solidFill>
              </a:defRPr>
            </a:pPr>
            <a:r>
              <a:t>Show Store #102 with KPI cards, at-risk SKUs, and revenue protected.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130759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7376" y="1426464"/>
            <a:ext cx="164592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234440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Explain the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5448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64748B"/>
                </a:solidFill>
              </a:defRPr>
            </a:pPr>
            <a:r>
              <a:t>Chips A is promo-active and forecasted to run out in around two hours.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8803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999232"/>
            <a:ext cx="164592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07208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Switch to 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27248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64748B"/>
                </a:solidFill>
              </a:defRPr>
            </a:pPr>
            <a:r>
              <a:t>Store associate receives a prioritized restock task.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28803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2999232"/>
            <a:ext cx="164592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07208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Simulate no backroom 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127248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64748B"/>
                </a:solidFill>
              </a:defRPr>
            </a:pPr>
            <a:r>
              <a:t>System switches from restock action to substitute recommendation.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4531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572000"/>
            <a:ext cx="164592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79976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Apply substitution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0016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64748B"/>
                </a:solidFill>
              </a:defRPr>
            </a:pPr>
            <a:r>
              <a:t>Agent recommends Chips B with substitution and margin impact.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44531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4572000"/>
            <a:ext cx="164592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379976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Show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700016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64748B"/>
                </a:solidFill>
              </a:defRPr>
            </a:pPr>
            <a:r>
              <a:t>Manager dashboard reflects protected revenue, completed tasks, and OOS risk reduction.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t>Key Business Impacts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The pitch should emphasize direct revenue recovery plus operational efficiency.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691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Revenue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Recover sales that would otherwise be lost when promo or high-demand SKUs go out of 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32588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472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Improved Promo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56231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Keep promotional items available during demand spikes and protect campaign ROI.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1325880"/>
            <a:ext cx="73152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1472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Higher Margin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856231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Suggest substitutes that preserve conversion and may improve margin on affected baskets.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3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520439"/>
            <a:ext cx="73152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667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Labor Productivity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050791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Reduce manual checking and guide staff to the highest-priority replenishment tasks.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52043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3520439"/>
            <a:ext cx="73152" cy="1691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1728" y="36667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Better Shelf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050791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Move shelf space toward high-performing SKUs and away from slow movers.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52043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20" y="3520439"/>
            <a:ext cx="73152" cy="1691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76488" y="36667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Customer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050791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Reduce empty-shelf frustration and increase the chance customers complete their basket.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t>Monetary Impact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Illustrative model for pitching value; replace assumptions with actual retailer data when available.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74903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34289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Example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342899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Daily store revenue: $10,000</a:t>
            </a:r>
            <a:br/>
            <a:r>
              <a:t>OOS-related missed demand: 8%</a:t>
            </a:r>
            <a:br/>
            <a:r>
              <a:t>Recoverable portion: 50%</a:t>
            </a:r>
            <a:br/>
            <a:r>
              <a:t>Agent improvement: 35%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417320"/>
            <a:ext cx="6400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417320"/>
            <a:ext cx="73152" cy="6217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57276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</a:defRPr>
            </a:pPr>
            <a:r>
              <a:t>Lost sales due to OOS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572768"/>
            <a:ext cx="3429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EF4444"/>
                </a:solidFill>
              </a:defRPr>
            </a:pPr>
            <a:r>
              <a:t>$10,000 × 8% = $800/day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03704"/>
            <a:ext cx="6400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0600" y="2203704"/>
            <a:ext cx="73152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</a:defRPr>
            </a:pPr>
            <a:r>
              <a:t>Recoverable lost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359152"/>
            <a:ext cx="3429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59E0B"/>
                </a:solidFill>
              </a:defRPr>
            </a:pPr>
            <a:r>
              <a:t>$800 × 50% = $400/day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990088"/>
            <a:ext cx="6400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990088"/>
            <a:ext cx="73152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314553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</a:defRPr>
            </a:pPr>
            <a:r>
              <a:t>Recovered by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145536"/>
            <a:ext cx="3429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22C55E"/>
                </a:solidFill>
              </a:defRPr>
            </a:pPr>
            <a:r>
              <a:t>$400 × 35% = $140/day/store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3776472"/>
            <a:ext cx="6400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00600" y="3776472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393192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</a:defRPr>
            </a:pPr>
            <a:r>
              <a:t>Annual value per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931920"/>
            <a:ext cx="3429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</a:defRPr>
            </a:pPr>
            <a:r>
              <a:t>$140 × 365 ≈ $51,100/year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4562856"/>
            <a:ext cx="6400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00600" y="4562856"/>
            <a:ext cx="7315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471830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72A"/>
                </a:solidFill>
              </a:defRPr>
            </a:pPr>
            <a:r>
              <a:t>100-store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718304"/>
            <a:ext cx="3429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7C3AED"/>
                </a:solidFill>
              </a:defRPr>
            </a:pPr>
            <a:r>
              <a:t>$51,100 × 100 ≈ $5.1M/year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532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64748B"/>
                </a:solidFill>
              </a:defRPr>
            </a:pPr>
            <a:r>
              <a:t>Note: Values are illustrative for demo purposes and should be calibrated with actual sales, inventory, and stockout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</a:defRPr>
            </a:pPr>
            <a:r>
              <a:t>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</a:defRPr>
            </a:pPr>
            <a:r>
              <a:t>A practical implementation view using existing systems, secured APIs, and multi-platform channels.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3317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Data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350008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POS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62072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Inventory / backroom stock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83864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1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Planogram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05656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15383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Promotion calendar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417320"/>
            <a:ext cx="23317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22C55E"/>
                </a:solidFill>
              </a:defRPr>
            </a:pPr>
            <a:r>
              <a:t>Secure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240280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94759" y="2350008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API Gateway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2862072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59" y="2971800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Authentication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483864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94759" y="3593591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RBAC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05656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59" y="4215383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Audit Logging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417320"/>
            <a:ext cx="23317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1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Agent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240280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79" y="2350008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Demand Forecast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862072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79" y="2971800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Replenishment 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483864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79" y="3593591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Recommendation 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105656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79" y="4215383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Planogram 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727448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79" y="4837176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Task Orchestrator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1417320"/>
            <a:ext cx="23317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00032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2563EB"/>
                </a:solidFill>
              </a:defRPr>
            </a:pPr>
            <a:r>
              <a:t>Channels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64040" y="2240280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55480" y="2350008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Mobile app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2862072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55480" y="2971800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Desktop dashboard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3483864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55480" y="3593591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Task queue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64040" y="4105656"/>
            <a:ext cx="187451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55480" y="4215383"/>
            <a:ext cx="1691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1">
                <a:solidFill>
                  <a:srgbClr val="0F172A"/>
                </a:solidFill>
              </a:defRPr>
            </a:pPr>
            <a:r>
              <a:t>Store / regional reports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017520" y="3566160"/>
            <a:ext cx="4572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806440" y="3566160"/>
            <a:ext cx="4572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95360" y="3566160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96012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Why This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48840"/>
            <a:ext cx="3291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73152" cy="2468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229514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Fast to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679192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Uses existing POS, inventory, and planogram data — no camera or shelf hardware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48840"/>
            <a:ext cx="3291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2148840"/>
            <a:ext cx="73152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229514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Clear 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679192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Connects agent actions directly to recovered sales, margin protection, and labor productivity.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48840"/>
            <a:ext cx="3291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2148840"/>
            <a:ext cx="73152" cy="2468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29514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172A"/>
                </a:solidFill>
              </a:defRPr>
            </a:pPr>
            <a:r>
              <a:t>Enterprise-ready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679192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0F172A"/>
                </a:solidFill>
              </a:defRPr>
            </a:pPr>
            <a:r>
              <a:t>Supports mobile + desktop usage with secured API access, RBAC, and audit logging.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BD5E1"/>
                </a:solidFill>
              </a:defRPr>
            </a:pPr>
            <a:r>
              <a:t>From reactive shelf management to predictive, secure, data-driven retail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</cp:revision>
  <dcterms:created xsi:type="dcterms:W3CDTF">2013-01-27T09:14:16Z</dcterms:created>
  <dcterms:modified xsi:type="dcterms:W3CDTF">2026-06-29T01:06:40Z</dcterms:modified>
  <cp:category/>
</cp:coreProperties>
</file>